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80" autoAdjust="0"/>
  </p:normalViewPr>
  <p:slideViewPr>
    <p:cSldViewPr snapToGrid="0" snapToObjects="1">
      <p:cViewPr varScale="1">
        <p:scale>
          <a:sx n="76" d="100"/>
          <a:sy n="76" d="100"/>
        </p:scale>
        <p:origin x="91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itha N Shetty" userId="533f8f3d9af28646" providerId="LiveId" clId="{BA3CEF2A-7E6E-4CFA-AA72-17D06FA6377B}"/>
    <pc:docChg chg="undo custSel addSld delSld modSld">
      <pc:chgData name="Shamitha N Shetty" userId="533f8f3d9af28646" providerId="LiveId" clId="{BA3CEF2A-7E6E-4CFA-AA72-17D06FA6377B}" dt="2026-09-15T15:57:08.645" v="72" actId="1076"/>
      <pc:docMkLst>
        <pc:docMk/>
      </pc:docMkLst>
      <pc:sldChg chg="modSp mod">
        <pc:chgData name="Shamitha N Shetty" userId="533f8f3d9af28646" providerId="LiveId" clId="{BA3CEF2A-7E6E-4CFA-AA72-17D06FA6377B}" dt="2026-09-15T15:48:56.618" v="1" actId="20577"/>
        <pc:sldMkLst>
          <pc:docMk/>
          <pc:sldMk cId="0" sldId="257"/>
        </pc:sldMkLst>
        <pc:spChg chg="mod">
          <ac:chgData name="Shamitha N Shetty" userId="533f8f3d9af28646" providerId="LiveId" clId="{BA3CEF2A-7E6E-4CFA-AA72-17D06FA6377B}" dt="2026-09-15T15:48:56.618" v="1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Shamitha N Shetty" userId="533f8f3d9af28646" providerId="LiveId" clId="{BA3CEF2A-7E6E-4CFA-AA72-17D06FA6377B}" dt="2026-09-15T15:49:22.158" v="3" actId="1076"/>
        <pc:sldMkLst>
          <pc:docMk/>
          <pc:sldMk cId="0" sldId="259"/>
        </pc:sldMkLst>
        <pc:spChg chg="mod">
          <ac:chgData name="Shamitha N Shetty" userId="533f8f3d9af28646" providerId="LiveId" clId="{BA3CEF2A-7E6E-4CFA-AA72-17D06FA6377B}" dt="2026-09-15T15:49:17.921" v="2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Shamitha N Shetty" userId="533f8f3d9af28646" providerId="LiveId" clId="{BA3CEF2A-7E6E-4CFA-AA72-17D06FA6377B}" dt="2026-09-15T15:49:22.158" v="3" actId="1076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Shamitha N Shetty" userId="533f8f3d9af28646" providerId="LiveId" clId="{BA3CEF2A-7E6E-4CFA-AA72-17D06FA6377B}" dt="2026-09-15T15:50:54.310" v="4" actId="14100"/>
        <pc:sldMkLst>
          <pc:docMk/>
          <pc:sldMk cId="0" sldId="264"/>
        </pc:sldMkLst>
        <pc:picChg chg="mod">
          <ac:chgData name="Shamitha N Shetty" userId="533f8f3d9af28646" providerId="LiveId" clId="{BA3CEF2A-7E6E-4CFA-AA72-17D06FA6377B}" dt="2026-09-15T15:50:54.310" v="4" actId="14100"/>
          <ac:picMkLst>
            <pc:docMk/>
            <pc:sldMk cId="0" sldId="264"/>
            <ac:picMk id="11" creationId="{D5508425-BAC1-A68B-C1AB-73C64B03974E}"/>
          </ac:picMkLst>
        </pc:picChg>
      </pc:sldChg>
      <pc:sldChg chg="modSp mod">
        <pc:chgData name="Shamitha N Shetty" userId="533f8f3d9af28646" providerId="LiveId" clId="{BA3CEF2A-7E6E-4CFA-AA72-17D06FA6377B}" dt="2026-09-15T15:51:44.263" v="10" actId="20577"/>
        <pc:sldMkLst>
          <pc:docMk/>
          <pc:sldMk cId="0" sldId="265"/>
        </pc:sldMkLst>
        <pc:spChg chg="mod">
          <ac:chgData name="Shamitha N Shetty" userId="533f8f3d9af28646" providerId="LiveId" clId="{BA3CEF2A-7E6E-4CFA-AA72-17D06FA6377B}" dt="2026-09-15T15:51:44.263" v="10" actId="20577"/>
          <ac:spMkLst>
            <pc:docMk/>
            <pc:sldMk cId="0" sldId="265"/>
            <ac:spMk id="12" creationId="{00000000-0000-0000-0000-000000000000}"/>
          </ac:spMkLst>
        </pc:spChg>
      </pc:sldChg>
      <pc:sldChg chg="delSp modSp mod">
        <pc:chgData name="Shamitha N Shetty" userId="533f8f3d9af28646" providerId="LiveId" clId="{BA3CEF2A-7E6E-4CFA-AA72-17D06FA6377B}" dt="2026-09-15T15:56:04.279" v="65" actId="20577"/>
        <pc:sldMkLst>
          <pc:docMk/>
          <pc:sldMk cId="0" sldId="266"/>
        </pc:sldMkLst>
        <pc:spChg chg="del mod">
          <ac:chgData name="Shamitha N Shetty" userId="533f8f3d9af28646" providerId="LiveId" clId="{BA3CEF2A-7E6E-4CFA-AA72-17D06FA6377B}" dt="2026-09-15T15:55:26.417" v="60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Shamitha N Shetty" userId="533f8f3d9af28646" providerId="LiveId" clId="{BA3CEF2A-7E6E-4CFA-AA72-17D06FA6377B}" dt="2026-09-15T15:56:04.279" v="65" actId="20577"/>
          <ac:spMkLst>
            <pc:docMk/>
            <pc:sldMk cId="0" sldId="266"/>
            <ac:spMk id="7" creationId="{00000000-0000-0000-0000-000000000000}"/>
          </ac:spMkLst>
        </pc:spChg>
      </pc:sldChg>
      <pc:sldChg chg="addSp modSp mod">
        <pc:chgData name="Shamitha N Shetty" userId="533f8f3d9af28646" providerId="LiveId" clId="{BA3CEF2A-7E6E-4CFA-AA72-17D06FA6377B}" dt="2026-09-15T15:56:55.450" v="70" actId="1076"/>
        <pc:sldMkLst>
          <pc:docMk/>
          <pc:sldMk cId="261227331" sldId="268"/>
        </pc:sldMkLst>
        <pc:spChg chg="add mod">
          <ac:chgData name="Shamitha N Shetty" userId="533f8f3d9af28646" providerId="LiveId" clId="{BA3CEF2A-7E6E-4CFA-AA72-17D06FA6377B}" dt="2026-09-15T15:52:57.286" v="24" actId="1076"/>
          <ac:spMkLst>
            <pc:docMk/>
            <pc:sldMk cId="261227331" sldId="268"/>
            <ac:spMk id="4" creationId="{49FD972A-347A-4ACF-5C5F-1B39028C8A99}"/>
          </ac:spMkLst>
        </pc:spChg>
        <pc:spChg chg="add mod">
          <ac:chgData name="Shamitha N Shetty" userId="533f8f3d9af28646" providerId="LiveId" clId="{BA3CEF2A-7E6E-4CFA-AA72-17D06FA6377B}" dt="2026-09-15T15:56:55.450" v="70" actId="1076"/>
          <ac:spMkLst>
            <pc:docMk/>
            <pc:sldMk cId="261227331" sldId="268"/>
            <ac:spMk id="7" creationId="{9AB3DF2A-18EE-959D-1F03-DC2D0C012620}"/>
          </ac:spMkLst>
        </pc:spChg>
        <pc:picChg chg="mod">
          <ac:chgData name="Shamitha N Shetty" userId="533f8f3d9af28646" providerId="LiveId" clId="{BA3CEF2A-7E6E-4CFA-AA72-17D06FA6377B}" dt="2026-09-15T15:56:50.327" v="68" actId="14100"/>
          <ac:picMkLst>
            <pc:docMk/>
            <pc:sldMk cId="261227331" sldId="268"/>
            <ac:picMk id="5" creationId="{6804D6D7-4C88-C567-4AEC-0EDA9BAC273D}"/>
          </ac:picMkLst>
        </pc:picChg>
      </pc:sldChg>
      <pc:sldChg chg="addSp delSp modSp mod">
        <pc:chgData name="Shamitha N Shetty" userId="533f8f3d9af28646" providerId="LiveId" clId="{BA3CEF2A-7E6E-4CFA-AA72-17D06FA6377B}" dt="2026-09-15T15:57:08.645" v="72" actId="1076"/>
        <pc:sldMkLst>
          <pc:docMk/>
          <pc:sldMk cId="1707988128" sldId="269"/>
        </pc:sldMkLst>
        <pc:spChg chg="add del mod">
          <ac:chgData name="Shamitha N Shetty" userId="533f8f3d9af28646" providerId="LiveId" clId="{BA3CEF2A-7E6E-4CFA-AA72-17D06FA6377B}" dt="2026-09-15T15:54:04.189" v="57" actId="1076"/>
          <ac:spMkLst>
            <pc:docMk/>
            <pc:sldMk cId="1707988128" sldId="269"/>
            <ac:spMk id="3" creationId="{CA442422-AF5B-F606-5596-1C5FB1F8D7CF}"/>
          </ac:spMkLst>
        </pc:spChg>
        <pc:spChg chg="add mod">
          <ac:chgData name="Shamitha N Shetty" userId="533f8f3d9af28646" providerId="LiveId" clId="{BA3CEF2A-7E6E-4CFA-AA72-17D06FA6377B}" dt="2026-09-15T15:57:08.645" v="72" actId="1076"/>
          <ac:spMkLst>
            <pc:docMk/>
            <pc:sldMk cId="1707988128" sldId="269"/>
            <ac:spMk id="6" creationId="{5F59FC22-FD48-0408-4AD8-0A666EA946EB}"/>
          </ac:spMkLst>
        </pc:spChg>
        <pc:picChg chg="mod">
          <ac:chgData name="Shamitha N Shetty" userId="533f8f3d9af28646" providerId="LiveId" clId="{BA3CEF2A-7E6E-4CFA-AA72-17D06FA6377B}" dt="2026-09-15T15:57:05.352" v="71" actId="14100"/>
          <ac:picMkLst>
            <pc:docMk/>
            <pc:sldMk cId="1707988128" sldId="269"/>
            <ac:picMk id="7" creationId="{322F4120-6875-F04F-D6EA-18D1A4FDE084}"/>
          </ac:picMkLst>
        </pc:picChg>
      </pc:sldChg>
      <pc:sldChg chg="new del">
        <pc:chgData name="Shamitha N Shetty" userId="533f8f3d9af28646" providerId="LiveId" clId="{BA3CEF2A-7E6E-4CFA-AA72-17D06FA6377B}" dt="2026-09-15T15:56:29.912" v="67" actId="47"/>
        <pc:sldMkLst>
          <pc:docMk/>
          <pc:sldMk cId="3843691668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8917" y="0"/>
            <a:ext cx="12191695" cy="68580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39" y="1417320"/>
            <a:ext cx="93008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IN" sz="4800" b="1" dirty="0"/>
              <a:t>Mutual Fund Analytics</a:t>
            </a:r>
            <a:endParaRPr sz="48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4251960"/>
            <a:ext cx="9913866" cy="13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rPr lang="en-IN" dirty="0"/>
              <a:t>															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rPr lang="en-IN" sz="2800" dirty="0"/>
              <a:t>                                                                                                                             										</a:t>
            </a:r>
            <a:r>
              <a:rPr sz="2800" dirty="0"/>
              <a:t>Presented by: Shamitha N Shetty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8"/>
                </a:solidFill>
              </a:defRPr>
            </a:pPr>
            <a:r>
              <a:t>Problem &amp;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67286"/>
            <a:ext cx="5303520" cy="5068922"/>
          </a:xfrm>
          <a:prstGeom prst="roundRect">
            <a:avLst/>
          </a:prstGeom>
          <a:solidFill>
            <a:srgbClr val="F2F6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64208"/>
            <a:ext cx="12645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CAA"/>
                </a:solidFill>
              </a:defRPr>
            </a:pPr>
            <a:r>
              <a:rPr sz="2400" dirty="0"/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Mutual fund data comes from multiple sources.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</a:t>
            </a:r>
            <a:r>
              <a:rPr lang="en-IN" sz="2000" b="1" dirty="0"/>
              <a:t> Which</a:t>
            </a:r>
            <a:r>
              <a:rPr lang="en-IN" sz="2000" b="1" dirty="0">
                <a:solidFill>
                  <a:srgbClr val="232A34"/>
                </a:solidFill>
              </a:rPr>
              <a:t> contains information about NAV, AUM, SIPs, investor transactions, fund performance and portfolio holdings.</a:t>
            </a:r>
            <a:endParaRPr sz="2000" b="1" dirty="0"/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Analysing these datasets separately makes it difficult to compare funds, understand investor behaviour and identify risk.</a:t>
            </a:r>
            <a:endParaRPr sz="2000" b="1" dirty="0"/>
          </a:p>
        </p:txBody>
      </p:sp>
      <p:sp>
        <p:nvSpPr>
          <p:cNvPr id="7" name="Rounded Rectangle 6"/>
          <p:cNvSpPr/>
          <p:nvPr/>
        </p:nvSpPr>
        <p:spPr>
          <a:xfrm>
            <a:off x="6263640" y="1092815"/>
            <a:ext cx="5303520" cy="5068922"/>
          </a:xfrm>
          <a:prstGeom prst="roundRect">
            <a:avLst/>
          </a:prstGeom>
          <a:solidFill>
            <a:srgbClr val="F2F6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59" y="1664208"/>
            <a:ext cx="15250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CAA"/>
                </a:solidFill>
              </a:defRPr>
            </a:pPr>
            <a:r>
              <a:rPr sz="2400" dirty="0"/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399" y="2148840"/>
            <a:ext cx="4663440" cy="3824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Build an end-to-end mutual fund analytics pipeline.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Clean and transform raw financial datasets.</a:t>
            </a:r>
          </a:p>
          <a:p>
            <a:pPr lvl="0"/>
            <a:r>
              <a:rPr sz="2000" b="1" dirty="0"/>
              <a:t>• </a:t>
            </a:r>
            <a:r>
              <a:rPr lang="en-IN" sz="2000" b="1" dirty="0"/>
              <a:t>Analyse fund performance and risk. </a:t>
            </a:r>
          </a:p>
          <a:p>
            <a:pPr lvl="0"/>
            <a:endParaRPr lang="en-IN" sz="2000" b="1" dirty="0"/>
          </a:p>
          <a:p>
            <a:pPr lvl="0"/>
            <a:r>
              <a:rPr lang="en-IN" sz="2000" b="1" dirty="0"/>
              <a:t>• Understand investor and SIP behaviour.</a:t>
            </a:r>
          </a:p>
          <a:p>
            <a:pPr lvl="0"/>
            <a:endParaRPr sz="2000" b="1" dirty="0"/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Build an interactive Power BI dashboard.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Develop advanced analytics and fund recommendations</a:t>
            </a:r>
            <a:r>
              <a:rPr b="1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0" y="656539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3911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8"/>
                </a:solidFill>
              </a:defRPr>
            </a:pPr>
            <a:r>
              <a:rPr sz="3200" dirty="0"/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39310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8"/>
                </a:solidFill>
              </a:defRPr>
            </a:pPr>
            <a:r>
              <a:rPr sz="2000" dirty="0"/>
              <a:t>10 major datasets + MFAPI REST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03520" cy="4899606"/>
          </a:xfrm>
          <a:prstGeom prst="roundRect">
            <a:avLst/>
          </a:prstGeom>
          <a:solidFill>
            <a:srgbClr val="F2F6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9161" y="1664208"/>
            <a:ext cx="2515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CAA"/>
                </a:solidFill>
              </a:defRPr>
            </a:pPr>
            <a:r>
              <a:rPr lang="en-IN" sz="2400" b="1" dirty="0">
                <a:solidFill>
                  <a:srgbClr val="2C5CAA"/>
                </a:solidFill>
              </a:rPr>
              <a:t>10 Major Datasets</a:t>
            </a:r>
            <a:endParaRPr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663440" cy="420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01_fund_master.csv</a:t>
            </a:r>
            <a:r>
              <a:rPr sz="2000" b="1" dirty="0"/>
              <a:t> </a:t>
            </a:r>
            <a:endParaRPr lang="en-IN" sz="2000" b="1" dirty="0"/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02_nav_history.csv</a:t>
            </a:r>
            <a:r>
              <a:rPr sz="2000" b="1" dirty="0"/>
              <a:t> </a:t>
            </a:r>
            <a:endParaRPr lang="en-IN" sz="2000" b="1" dirty="0"/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03_aum_by_fund_house.csv</a:t>
            </a:r>
            <a:endParaRPr sz="2000" b="1" dirty="0"/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04_monthly_sip_inflows.csv 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05_category_inflows.csv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06_industry_folio_count.csv 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07_scheme_performance.csv 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08_investor_transactions.csv 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09_portfolio_holdings.csv 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10_benchmark_indices.csv</a:t>
            </a:r>
            <a:endParaRPr sz="20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03520" cy="4899606"/>
          </a:xfrm>
          <a:prstGeom prst="roundRect">
            <a:avLst/>
          </a:prstGeom>
          <a:solidFill>
            <a:srgbClr val="F2F6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59" y="1664208"/>
            <a:ext cx="218572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CAA"/>
                </a:solidFill>
              </a:defRPr>
            </a:pPr>
            <a:r>
              <a:rPr sz="2400" dirty="0"/>
              <a:t>Additional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148840"/>
            <a:ext cx="466344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MFAPI REST API used for selected scheme NAV data.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lang="en-IN" sz="2000" b="1" dirty="0"/>
              <a:t>• </a:t>
            </a:r>
            <a:r>
              <a:rPr sz="2000" b="1" dirty="0"/>
              <a:t>AMFI codes used to identify schemes.</a:t>
            </a:r>
            <a:endParaRPr lang="en-IN" sz="2000" b="1" dirty="0"/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lang="en-IN"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HDFC Top 100 (125497), SBI  </a:t>
            </a:r>
            <a:r>
              <a:rPr lang="en-IN" sz="2000" b="1" dirty="0" err="1">
                <a:solidFill>
                  <a:srgbClr val="232A34"/>
                </a:solidFill>
              </a:rPr>
              <a:t>Bluechip</a:t>
            </a:r>
            <a:r>
              <a:rPr lang="en-IN" sz="2000" b="1" dirty="0">
                <a:solidFill>
                  <a:srgbClr val="232A34"/>
                </a:solidFill>
              </a:rPr>
              <a:t> (119551), ICICI </a:t>
            </a:r>
            <a:r>
              <a:rPr lang="en-IN" sz="2000" b="1" dirty="0" err="1">
                <a:solidFill>
                  <a:srgbClr val="232A34"/>
                </a:solidFill>
              </a:rPr>
              <a:t>Bluechip</a:t>
            </a:r>
            <a:r>
              <a:rPr lang="en-IN" sz="2000" b="1" dirty="0">
                <a:solidFill>
                  <a:srgbClr val="232A34"/>
                </a:solidFill>
              </a:rPr>
              <a:t> (120503), Nippon Large Cap (118632), Axis </a:t>
            </a:r>
            <a:r>
              <a:rPr lang="en-IN" sz="2000" b="1" dirty="0" err="1">
                <a:solidFill>
                  <a:srgbClr val="232A34"/>
                </a:solidFill>
              </a:rPr>
              <a:t>Bluechip</a:t>
            </a:r>
            <a:r>
              <a:rPr lang="en-IN" sz="2000" b="1" dirty="0">
                <a:solidFill>
                  <a:srgbClr val="232A34"/>
                </a:solidFill>
              </a:rPr>
              <a:t> (119092), Kotak </a:t>
            </a:r>
            <a:r>
              <a:rPr lang="en-IN" sz="2000" b="1" dirty="0" err="1">
                <a:solidFill>
                  <a:srgbClr val="232A34"/>
                </a:solidFill>
              </a:rPr>
              <a:t>Bluechip</a:t>
            </a:r>
            <a:r>
              <a:rPr lang="en-IN" sz="2000" b="1" dirty="0">
                <a:solidFill>
                  <a:srgbClr val="232A34"/>
                </a:solidFill>
              </a:rPr>
              <a:t> (120841)</a:t>
            </a:r>
            <a:endParaRPr sz="2000" b="1" dirty="0"/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Analysis period: 2022–2026.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Processed datasets prepared for analytics and reporting.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0" y="656539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02007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8"/>
                </a:solidFill>
              </a:defRPr>
            </a:pPr>
            <a:r>
              <a:rPr sz="3600" dirty="0"/>
              <a:t>Project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597" y="1890424"/>
            <a:ext cx="1388555" cy="1572767"/>
          </a:xfrm>
          <a:prstGeom prst="roundRect">
            <a:avLst/>
          </a:prstGeom>
          <a:solidFill>
            <a:srgbClr val="F2F6FC"/>
          </a:solidFill>
          <a:ln>
            <a:solidFill>
              <a:srgbClr val="2C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9" y="2436591"/>
            <a:ext cx="1565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748"/>
                </a:solidFill>
              </a:defRPr>
            </a:pPr>
            <a:r>
              <a:rPr sz="1600" dirty="0"/>
              <a:t>Raw CSV Files + MFAPI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1426128" y="2533801"/>
            <a:ext cx="548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5CA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0669" y="1890425"/>
            <a:ext cx="1316493" cy="1572767"/>
          </a:xfrm>
          <a:prstGeom prst="roundRect">
            <a:avLst/>
          </a:prstGeom>
          <a:solidFill>
            <a:srgbClr val="F2F6FC"/>
          </a:solidFill>
          <a:ln>
            <a:solidFill>
              <a:srgbClr val="2C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32022" y="2541806"/>
            <a:ext cx="141378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748"/>
                </a:solidFill>
              </a:defRPr>
            </a:pPr>
            <a:r>
              <a:rPr sz="1600" dirty="0"/>
              <a:t>Data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6561" y="2495109"/>
            <a:ext cx="9776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5CA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5919" y="1856231"/>
            <a:ext cx="1353312" cy="1572767"/>
          </a:xfrm>
          <a:prstGeom prst="roundRect">
            <a:avLst/>
          </a:prstGeom>
          <a:solidFill>
            <a:srgbClr val="F2F6FC"/>
          </a:solidFill>
          <a:ln>
            <a:solidFill>
              <a:srgbClr val="2C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370676" y="2436591"/>
            <a:ext cx="14554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748"/>
                </a:solidFill>
              </a:defRPr>
            </a:pPr>
            <a:r>
              <a:rPr lang="en-IN" sz="1600" b="1" dirty="0">
                <a:solidFill>
                  <a:srgbClr val="142748"/>
                </a:solidFill>
              </a:rPr>
              <a:t>Data Cleaning / ETL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4718273" y="2498824"/>
            <a:ext cx="1069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5CA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7762" y="1856233"/>
            <a:ext cx="1419808" cy="1572765"/>
          </a:xfrm>
          <a:prstGeom prst="roundRect">
            <a:avLst/>
          </a:prstGeom>
          <a:solidFill>
            <a:srgbClr val="F2F6FC"/>
          </a:solidFill>
          <a:ln>
            <a:solidFill>
              <a:srgbClr val="2C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06010" y="2384419"/>
            <a:ext cx="13200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748"/>
                </a:solidFill>
              </a:defRPr>
            </a:pPr>
            <a:r>
              <a:rPr lang="en-IN" sz="1600" b="1" dirty="0">
                <a:solidFill>
                  <a:srgbClr val="142748"/>
                </a:solidFill>
              </a:rPr>
              <a:t>Processed CSV Files</a:t>
            </a:r>
            <a:endParaRPr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6471074" y="251596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5CA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0183" y="1852792"/>
            <a:ext cx="1528079" cy="1572764"/>
          </a:xfrm>
          <a:prstGeom prst="roundRect">
            <a:avLst/>
          </a:prstGeom>
          <a:solidFill>
            <a:srgbClr val="F2F6FC"/>
          </a:solidFill>
          <a:ln>
            <a:solidFill>
              <a:srgbClr val="2C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6998" y="2528203"/>
            <a:ext cx="15712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748"/>
                </a:solidFill>
              </a:defRPr>
            </a:pPr>
            <a:r>
              <a:rPr sz="1600" dirty="0"/>
              <a:t>SQLite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9351" y="2514600"/>
            <a:ext cx="981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5CA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1025" y="1874522"/>
            <a:ext cx="1484969" cy="1604574"/>
          </a:xfrm>
          <a:prstGeom prst="roundRect">
            <a:avLst/>
          </a:prstGeom>
          <a:solidFill>
            <a:srgbClr val="F2F6FC"/>
          </a:solidFill>
          <a:ln>
            <a:solidFill>
              <a:srgbClr val="2C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62248" y="2245400"/>
            <a:ext cx="11894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748"/>
                </a:solidFill>
              </a:defRPr>
            </a:pPr>
            <a:r>
              <a:rPr sz="1600" dirty="0"/>
              <a:t>Python + SQL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63402" y="25146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5CAA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17668" y="1874522"/>
            <a:ext cx="1353312" cy="1629890"/>
          </a:xfrm>
          <a:prstGeom prst="roundRect">
            <a:avLst/>
          </a:prstGeom>
          <a:solidFill>
            <a:srgbClr val="F2F6FC"/>
          </a:solidFill>
          <a:ln>
            <a:solidFill>
              <a:srgbClr val="2C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03241" y="2350226"/>
            <a:ext cx="12337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748"/>
                </a:solidFill>
              </a:defRPr>
            </a:pPr>
            <a:r>
              <a:rPr sz="1600" dirty="0"/>
              <a:t>Power BI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2A34"/>
                </a:solidFill>
              </a:defRPr>
            </a:pPr>
            <a:r>
              <a:t>Technologies: Python | Pandas | NumPy | Matplotlib | Seaborn | Plotly | SQL | SQLite | Power BI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98480" y="656539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8"/>
                </a:solidFill>
              </a:defRPr>
            </a:pPr>
            <a:r>
              <a:rPr dirty="0"/>
              <a:t>EDA Highlights: Industry &amp; Investor Trends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33272"/>
            <a:ext cx="5303520" cy="5365242"/>
          </a:xfrm>
          <a:prstGeom prst="roundRect">
            <a:avLst/>
          </a:prstGeom>
          <a:solidFill>
            <a:srgbClr val="F2F6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80744"/>
            <a:ext cx="228222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CAA"/>
                </a:solidFill>
              </a:defRPr>
            </a:pPr>
            <a:r>
              <a:rPr sz="2400" dirty="0"/>
              <a:t>Industry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665" y="1894268"/>
            <a:ext cx="466344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AUM showed substantial growth during the </a:t>
            </a:r>
            <a:r>
              <a:rPr sz="2000" b="1" dirty="0" err="1"/>
              <a:t>analysed</a:t>
            </a:r>
            <a:r>
              <a:rPr sz="2000" b="1" dirty="0"/>
              <a:t> period.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SIP inflows followed a strong long-term upward trend.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SIP inflows reached approximately </a:t>
            </a:r>
            <a:r>
              <a:rPr lang="en-IN" sz="2000" b="1" dirty="0">
                <a:solidFill>
                  <a:srgbClr val="C00000"/>
                </a:solidFill>
              </a:rPr>
              <a:t>₹31,002 Cr in December 2025. 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Folio count increased from </a:t>
            </a:r>
            <a:r>
              <a:rPr lang="en-IN" sz="2000" b="1" dirty="0">
                <a:solidFill>
                  <a:srgbClr val="C00000"/>
                </a:solidFill>
              </a:rPr>
              <a:t>13.26 Cr to 26.12 Cr </a:t>
            </a:r>
            <a:r>
              <a:rPr lang="en-IN" sz="2000" b="1" dirty="0">
                <a:solidFill>
                  <a:srgbClr val="232A34"/>
                </a:solidFill>
              </a:rPr>
              <a:t>between January 2022 and December 2025.</a:t>
            </a:r>
            <a:endParaRPr sz="2000" b="1" dirty="0"/>
          </a:p>
        </p:txBody>
      </p:sp>
      <p:sp>
        <p:nvSpPr>
          <p:cNvPr id="7" name="Rounded Rectangle 6"/>
          <p:cNvSpPr/>
          <p:nvPr/>
        </p:nvSpPr>
        <p:spPr>
          <a:xfrm>
            <a:off x="6263640" y="950976"/>
            <a:ext cx="5303520" cy="5447538"/>
          </a:xfrm>
          <a:prstGeom prst="roundRect">
            <a:avLst/>
          </a:prstGeom>
          <a:solidFill>
            <a:srgbClr val="F2F6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232937"/>
            <a:ext cx="22776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CAA"/>
                </a:solidFill>
              </a:defRPr>
            </a:pPr>
            <a:r>
              <a:rPr sz="2400" dirty="0"/>
              <a:t>Investor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0399" y="1611576"/>
            <a:ext cx="4663440" cy="5747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SIP was the largest transaction type.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The 26–35 age group represented the largest investor group.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T30 locations contributed a significant share of investor participation. 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Visuals: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A34"/>
                </a:solidFill>
              </a:defRPr>
            </a:pPr>
            <a:r>
              <a:rPr lang="en-IN" sz="2000" b="1" dirty="0">
                <a:solidFill>
                  <a:srgbClr val="232A34"/>
                </a:solidFill>
              </a:rPr>
              <a:t>  NAV trend analysis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A34"/>
                </a:solidFill>
              </a:defRPr>
            </a:pPr>
            <a:r>
              <a:rPr lang="en-IN" sz="2000" b="1" dirty="0">
                <a:solidFill>
                  <a:srgbClr val="232A34"/>
                </a:solidFill>
              </a:rPr>
              <a:t>  AUM Growth by Fund House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A34"/>
                </a:solidFill>
              </a:defRPr>
            </a:pPr>
            <a:r>
              <a:rPr lang="en-IN" sz="2000" b="1" dirty="0">
                <a:solidFill>
                  <a:srgbClr val="232A34"/>
                </a:solidFill>
              </a:rPr>
              <a:t> SIP Inflow Trend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A34"/>
                </a:solidFill>
              </a:defRPr>
            </a:pPr>
            <a:r>
              <a:rPr lang="en-IN" sz="2000" b="1" dirty="0">
                <a:solidFill>
                  <a:srgbClr val="232A34"/>
                </a:solidFill>
              </a:rPr>
              <a:t> Folio Count Growth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A34"/>
                </a:solidFill>
              </a:defRPr>
            </a:pPr>
            <a:r>
              <a:rPr lang="en-IN" sz="2000" b="1" dirty="0">
                <a:solidFill>
                  <a:srgbClr val="232A34"/>
                </a:solidFill>
              </a:rPr>
              <a:t>Investor Demographics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A34"/>
                </a:solidFill>
              </a:defRPr>
            </a:pPr>
            <a:r>
              <a:rPr lang="en-IN" sz="2000" b="1" dirty="0">
                <a:solidFill>
                  <a:srgbClr val="232A34"/>
                </a:solidFill>
              </a:rPr>
              <a:t>Geographic distribution</a:t>
            </a:r>
            <a:br>
              <a:rPr lang="en-IN" sz="2000" dirty="0">
                <a:solidFill>
                  <a:srgbClr val="232A34"/>
                </a:solidFill>
              </a:rPr>
            </a:br>
            <a:br>
              <a:rPr lang="en-IN" sz="2000" dirty="0">
                <a:solidFill>
                  <a:srgbClr val="232A34"/>
                </a:solidFill>
              </a:rPr>
            </a:br>
            <a:br>
              <a:rPr lang="en-IN" sz="2000" dirty="0">
                <a:solidFill>
                  <a:srgbClr val="232A34"/>
                </a:solidFill>
              </a:rPr>
            </a:br>
            <a:r>
              <a:rPr lang="en-IN" sz="2000" dirty="0">
                <a:solidFill>
                  <a:srgbClr val="232A34"/>
                </a:solidFill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0" y="656539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8"/>
                </a:solidFill>
              </a:defRPr>
            </a:pPr>
            <a:r>
              <a:rPr dirty="0"/>
              <a:t>EDA Highlights: Categories &amp;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03520" cy="4818888"/>
          </a:xfrm>
          <a:prstGeom prst="roundRect">
            <a:avLst/>
          </a:prstGeom>
          <a:solidFill>
            <a:srgbClr val="F2F6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64208"/>
            <a:ext cx="24346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CAA"/>
                </a:solidFill>
              </a:defRPr>
            </a:pPr>
            <a:r>
              <a:rPr sz="2400" dirty="0"/>
              <a:t>Category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Monthly category inflows were </a:t>
            </a:r>
            <a:r>
              <a:rPr sz="2000" b="1" dirty="0" err="1"/>
              <a:t>analysed</a:t>
            </a:r>
            <a:r>
              <a:rPr sz="2000" b="1" dirty="0"/>
              <a:t> using a heatmap.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Different categories showed varying inflow patterns over time.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Category-level analysis identifies changing investor preferences.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303520" cy="4818888"/>
          </a:xfrm>
          <a:prstGeom prst="roundRect">
            <a:avLst/>
          </a:prstGeom>
          <a:solidFill>
            <a:srgbClr val="F2F6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59" y="166420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CAA"/>
                </a:solidFill>
              </a:defRPr>
            </a:pPr>
            <a:r>
              <a:t>Portfolio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2148840"/>
            <a:ext cx="466344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Correlation analysis was performed for 10 selected funds.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Sector allocation was </a:t>
            </a:r>
            <a:r>
              <a:rPr sz="2000" b="1" dirty="0" err="1"/>
              <a:t>analysed</a:t>
            </a:r>
            <a:r>
              <a:rPr sz="2000" b="1" dirty="0"/>
              <a:t> across equity fund portfolios.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Sector concentration varied between portfolios.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Visuals:</a:t>
            </a:r>
            <a:endParaRPr lang="en-IN" sz="2000" b="1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A34"/>
                </a:solidFill>
              </a:defRPr>
            </a:pPr>
            <a:r>
              <a:rPr sz="2000" b="1" dirty="0"/>
              <a:t> category heatmap</a:t>
            </a:r>
            <a:endParaRPr lang="en-IN" sz="2000" b="1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A34"/>
                </a:solidFill>
              </a:defRPr>
            </a:pPr>
            <a:r>
              <a:rPr sz="2000" b="1" dirty="0"/>
              <a:t> correlation matrix </a:t>
            </a:r>
            <a:endParaRPr lang="en-IN" sz="2000" b="1" dirty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A34"/>
                </a:solidFill>
              </a:defRPr>
            </a:pPr>
            <a:r>
              <a:rPr sz="2000" b="1" dirty="0"/>
              <a:t> sector allocation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0" y="656539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8"/>
                </a:solidFill>
              </a:defRPr>
            </a:pPr>
            <a:r>
              <a:t>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" y="974264"/>
            <a:ext cx="5303520" cy="5366671"/>
          </a:xfrm>
          <a:prstGeom prst="roundRect">
            <a:avLst/>
          </a:prstGeom>
          <a:solidFill>
            <a:srgbClr val="F2F6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9161" y="1082439"/>
            <a:ext cx="364522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CAA"/>
                </a:solidFill>
              </a:defRPr>
            </a:pPr>
            <a:r>
              <a:rPr lang="en-IN" sz="2400" b="1" dirty="0"/>
              <a:t>Fund Performance Analysis</a:t>
            </a:r>
          </a:p>
          <a:p>
            <a:pPr>
              <a:defRPr sz="2000" b="1">
                <a:solidFill>
                  <a:srgbClr val="2C5CAA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99161" y="1673352"/>
            <a:ext cx="46634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Fund Performance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 following metrics were calculated: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CAGR</a:t>
            </a:r>
            <a:r>
              <a:rPr lang="en-IN" sz="2000" dirty="0"/>
              <a:t> — Long-term return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Sharpe Ratio</a:t>
            </a:r>
            <a:r>
              <a:rPr lang="en-IN" sz="2000" dirty="0"/>
              <a:t> — Return relative to total risk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Sortino Ratio</a:t>
            </a:r>
            <a:r>
              <a:rPr lang="en-IN" sz="2000" dirty="0"/>
              <a:t> — Return relative to downside risk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Alpha</a:t>
            </a:r>
            <a:r>
              <a:rPr lang="en-IN" sz="2000" dirty="0"/>
              <a:t> — Excess return compared with benchmark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Beta</a:t>
            </a:r>
            <a:r>
              <a:rPr lang="en-IN" sz="2000" dirty="0"/>
              <a:t> — Sensitivity to benchmark movements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Maximum Drawdown</a:t>
            </a:r>
            <a:r>
              <a:rPr lang="en-IN" sz="2000" dirty="0"/>
              <a:t> — Largest peak-to-trough decline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Tracking Error</a:t>
            </a:r>
            <a:r>
              <a:rPr lang="en-IN" sz="2000" dirty="0"/>
              <a:t> — Difference between fund and benchmark returns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39" y="974263"/>
            <a:ext cx="5722621" cy="5408069"/>
          </a:xfrm>
          <a:prstGeom prst="roundRect">
            <a:avLst/>
          </a:prstGeom>
          <a:solidFill>
            <a:srgbClr val="F2F6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35475" y="1271055"/>
            <a:ext cx="266265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CAA"/>
                </a:solidFill>
              </a:defRPr>
            </a:pPr>
            <a:r>
              <a:rPr sz="2400" dirty="0"/>
              <a:t>Top Fund Scorecard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0" y="656539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7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3902DB6-090D-CF31-DA69-70A3857BB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099323"/>
              </p:ext>
            </p:extLst>
          </p:nvPr>
        </p:nvGraphicFramePr>
        <p:xfrm>
          <a:off x="6484618" y="1929745"/>
          <a:ext cx="5276458" cy="3953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3573">
                  <a:extLst>
                    <a:ext uri="{9D8B030D-6E8A-4147-A177-3AD203B41FA5}">
                      <a16:colId xmlns:a16="http://schemas.microsoft.com/office/drawing/2014/main" val="59514752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2917369954"/>
                    </a:ext>
                  </a:extLst>
                </a:gridCol>
              </a:tblGrid>
              <a:tr h="691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63048"/>
                  </a:ext>
                </a:extLst>
              </a:tr>
              <a:tr h="56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ICICI Pru Midcap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84.50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744054"/>
                  </a:ext>
                </a:extLst>
              </a:tr>
              <a:tr h="56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Axis Midcap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80.75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11881"/>
                  </a:ext>
                </a:extLst>
              </a:tr>
              <a:tr h="992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HDFC Mid-Cap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80.50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229747"/>
                  </a:ext>
                </a:extLst>
              </a:tr>
              <a:tr h="56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Mirae Asset Large Cap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80.00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3325509"/>
                  </a:ext>
                </a:extLst>
              </a:tr>
              <a:tr h="56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Kotak </a:t>
                      </a:r>
                      <a:r>
                        <a:rPr lang="en-IN" sz="2000" dirty="0" err="1"/>
                        <a:t>Flexicap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/>
                        <a:t>78.25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4506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8"/>
                </a:solidFill>
              </a:defRPr>
            </a:pPr>
            <a:r>
              <a:rPr dirty="0"/>
              <a:t>Advanced Risk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03520" cy="4480560"/>
          </a:xfrm>
          <a:prstGeom prst="roundRect">
            <a:avLst/>
          </a:prstGeom>
          <a:solidFill>
            <a:srgbClr val="F2F6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64208"/>
            <a:ext cx="18178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CAA"/>
                </a:solidFill>
              </a:defRPr>
            </a:pPr>
            <a:r>
              <a:rPr sz="2400" dirty="0"/>
              <a:t>Risk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sz="2000" b="1" dirty="0" err="1"/>
              <a:t>VaR</a:t>
            </a:r>
            <a:r>
              <a:rPr sz="2000" b="1" dirty="0"/>
              <a:t> (95%) estimated downside using the historical fifth percentile of returns.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Measured the average return during observations worse than the </a:t>
            </a:r>
            <a:r>
              <a:rPr lang="en-IN" sz="2000" b="1" dirty="0" err="1">
                <a:solidFill>
                  <a:srgbClr val="232A34"/>
                </a:solidFill>
              </a:rPr>
              <a:t>VaR</a:t>
            </a:r>
            <a:r>
              <a:rPr lang="en-IN" sz="2000" b="1" dirty="0">
                <a:solidFill>
                  <a:srgbClr val="232A34"/>
                </a:solidFill>
              </a:rPr>
              <a:t> threshold.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90-day rolling Sharpe Ratio used to observe changes in risk-adjusted performance.</a:t>
            </a:r>
            <a:endParaRPr sz="2000" b="1" dirty="0"/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303520" cy="4480560"/>
          </a:xfrm>
          <a:prstGeom prst="roundRect">
            <a:avLst/>
          </a:prstGeom>
          <a:solidFill>
            <a:srgbClr val="F2F6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59" y="1664208"/>
            <a:ext cx="26727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CAA"/>
                </a:solidFill>
              </a:defRPr>
            </a:pPr>
            <a:r>
              <a:rPr sz="2400" dirty="0"/>
              <a:t>Advanced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2148840"/>
            <a:ext cx="466344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Investor cohort analysis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SIP continuation analysis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Fund recommendation model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Sector concentration using HHI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rPr sz="2000" b="1" dirty="0"/>
              <a:t>• </a:t>
            </a:r>
            <a:r>
              <a:rPr lang="en-IN" sz="2000" b="1" dirty="0">
                <a:solidFill>
                  <a:srgbClr val="232A34"/>
                </a:solidFill>
              </a:rPr>
              <a:t>Risk-adjusted metrics provide a more complete view of fund quality than return alone.</a:t>
            </a:r>
            <a:endParaRPr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0" y="656539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rPr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97069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8"/>
                </a:solidFill>
              </a:defRPr>
            </a:pPr>
            <a:r>
              <a:rPr dirty="0"/>
              <a:t>Power BI Dashboard: Industry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508425-BAC1-A68B-C1AB-73C64B039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04" y="882869"/>
            <a:ext cx="11644936" cy="54904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6D4BBE-8A50-9F6E-3A13-8FF99EC593D4}"/>
              </a:ext>
            </a:extLst>
          </p:cNvPr>
          <p:cNvSpPr txBox="1"/>
          <p:nvPr/>
        </p:nvSpPr>
        <p:spPr>
          <a:xfrm>
            <a:off x="168691" y="205583"/>
            <a:ext cx="64313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8"/>
                </a:solidFill>
              </a:defRPr>
            </a:pPr>
            <a:r>
              <a:rPr dirty="0"/>
              <a:t>Power BI Dashboard: </a:t>
            </a:r>
            <a:r>
              <a:rPr lang="en-IN" sz="2800" b="1" dirty="0">
                <a:solidFill>
                  <a:srgbClr val="142748"/>
                </a:solidFill>
              </a:rPr>
              <a:t>SIP &amp; Market Trends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4D6D7-4C88-C567-4AEC-0EDA9BAC2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5" y="854110"/>
            <a:ext cx="12096309" cy="5486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FD972A-347A-4ACF-5C5F-1B39028C8A99}"/>
              </a:ext>
            </a:extLst>
          </p:cNvPr>
          <p:cNvSpPr txBox="1"/>
          <p:nvPr/>
        </p:nvSpPr>
        <p:spPr>
          <a:xfrm>
            <a:off x="11274248" y="6450902"/>
            <a:ext cx="11756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3DF2A-18EE-959D-1F03-DC2D0C012620}"/>
              </a:ext>
            </a:extLst>
          </p:cNvPr>
          <p:cNvSpPr/>
          <p:nvPr/>
        </p:nvSpPr>
        <p:spPr>
          <a:xfrm>
            <a:off x="524022" y="6447529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1227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D532B1-432B-E660-8C04-1914B4D47996}"/>
              </a:ext>
            </a:extLst>
          </p:cNvPr>
          <p:cNvSpPr txBox="1"/>
          <p:nvPr/>
        </p:nvSpPr>
        <p:spPr>
          <a:xfrm>
            <a:off x="398079" y="250770"/>
            <a:ext cx="6093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748"/>
                </a:solidFill>
              </a:defRPr>
            </a:pPr>
            <a:r>
              <a:rPr lang="en-US" sz="2800" dirty="0"/>
              <a:t>Power BI Dashboard: Investor Analytics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2F4120-6875-F04F-D6EA-18D1A4FDE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3990"/>
            <a:ext cx="12192000" cy="56012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442422-AF5B-F606-5596-1C5FB1F8D7CF}"/>
              </a:ext>
            </a:extLst>
          </p:cNvPr>
          <p:cNvSpPr txBox="1"/>
          <p:nvPr/>
        </p:nvSpPr>
        <p:spPr>
          <a:xfrm>
            <a:off x="11289322" y="6590065"/>
            <a:ext cx="12644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 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59FC22-FD48-0408-4AD8-0A666EA946EB}"/>
              </a:ext>
            </a:extLst>
          </p:cNvPr>
          <p:cNvSpPr/>
          <p:nvPr/>
        </p:nvSpPr>
        <p:spPr>
          <a:xfrm>
            <a:off x="609600" y="658894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07988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1373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8"/>
                </a:solidFill>
              </a:defRPr>
            </a:pPr>
            <a:r>
              <a:rPr dirty="0"/>
              <a:t>Power BI Dashboard: Fund </a:t>
            </a:r>
            <a:r>
              <a:rPr lang="en-IN" dirty="0"/>
              <a:t>Performance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21357" y="656539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rPr dirty="0"/>
              <a:t>1</a:t>
            </a:r>
            <a:r>
              <a:rPr lang="en-IN" dirty="0"/>
              <a:t>2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746364-930D-8CFA-2181-EECDBE31F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14" y="950976"/>
            <a:ext cx="11666484" cy="5451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8"/>
                </a:solidFill>
              </a:defRPr>
            </a:pPr>
            <a:r>
              <a:rPr dirty="0"/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/>
              <a:t>Mutual fund industry assets showed strong growth.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SIP inflows showed a sustained long-term growth trend.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Folio participation increased significantly.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Fund performance varied considerably across schemes.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Risk-adjusted metrics revealed differences between funds.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Benchmark comparison improved performance evaluation. </a:t>
            </a:r>
          </a:p>
          <a:p>
            <a:pPr lvl="0">
              <a:lnSpc>
                <a:spcPct val="150000"/>
              </a:lnSpc>
            </a:pPr>
            <a:r>
              <a:rPr lang="en-IN" sz="2000" b="1" dirty="0" err="1"/>
              <a:t>VaR</a:t>
            </a:r>
            <a:r>
              <a:rPr lang="en-IN" sz="2000" b="1" dirty="0"/>
              <a:t> and CVaR highlighted differences in downside risk.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Investor behaviour differed across demographic and geographic groups.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Sector concentration varied across portfolios.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The fund scorecard helped identify stronger funds using multiple metrics</a:t>
            </a:r>
            <a:r>
              <a:rPr lang="en-IN" b="1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21357" y="6565392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rPr dirty="0"/>
              <a:t>1</a:t>
            </a:r>
            <a:r>
              <a:rPr lang="en-IN" dirty="0"/>
              <a:t>3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4855" y="2695903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839</Words>
  <Application>Microsoft Office PowerPoint</Application>
  <PresentationFormat>Widescreen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Shamitha N Shetty</dc:creator>
  <cp:keywords/>
  <dc:description>generated using python-pptx</dc:description>
  <cp:lastModifiedBy>Shamitha N Shetty</cp:lastModifiedBy>
  <cp:revision>2</cp:revision>
  <dcterms:created xsi:type="dcterms:W3CDTF">2013-01-27T09:14:16Z</dcterms:created>
  <dcterms:modified xsi:type="dcterms:W3CDTF">2026-09-15T15:57:10Z</dcterms:modified>
  <cp:category/>
</cp:coreProperties>
</file>